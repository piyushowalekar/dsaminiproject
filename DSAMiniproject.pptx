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58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1C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31"/>
  </p:normalViewPr>
  <p:slideViewPr>
    <p:cSldViewPr snapToGrid="0">
      <p:cViewPr varScale="1">
        <p:scale>
          <a:sx n="121" d="100"/>
          <a:sy n="121" d="100"/>
        </p:scale>
        <p:origin x="176" y="8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65F86A44-DDE1-7E16-889F-F29B73341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38A569FF-84F9-530A-998B-13408DD19D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9BABA21A-6DC9-DAE4-7F39-5017A5244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6038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BFF3B2E-88B9-574B-0EFB-4CE7D0D46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27CCF5DD-3A63-F61E-AE13-ADFDB26A40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5968B60-C1D5-8A6D-8D06-8B71358055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768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5163FBD-F532-0F83-EE12-10EE6DC8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14A7D33D-6C9F-F763-6B37-8DADDAFC0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6F0FD085-999E-655A-88D1-9990F121DA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19266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A9CFCB1-1469-3749-A269-2C451B75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8141B7C7-93B5-88AC-6844-B0E7136AA6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2992F799-D216-2288-861A-6ECC806E6E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43056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5EC3F67-521A-DBDB-DF0C-4768B69B1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BFAEE892-CC0E-B403-A009-B70B4043B7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4F9F3E6-C71E-5827-1C5C-CAF8B4BA8A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3170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053F6674-45EA-5044-DC72-251867EDA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A01001E-4159-6D90-E986-E80C2184F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A82C000A-C594-31AD-5DB1-C83B2EAC6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525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/>
            <a:r>
              <a:rPr lang="en-IN" b="1" dirty="0">
                <a:solidFill>
                  <a:schemeClr val="bg1"/>
                </a:solidFill>
              </a:rPr>
              <a:t>Smart Traffic Signal Timing System</a:t>
            </a: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85A4E0-309E-6973-6AC0-FB70B6A1F83D}"/>
              </a:ext>
            </a:extLst>
          </p:cNvPr>
          <p:cNvSpPr txBox="1"/>
          <p:nvPr/>
        </p:nvSpPr>
        <p:spPr>
          <a:xfrm>
            <a:off x="2286000" y="3440687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dirty="0">
                <a:solidFill>
                  <a:schemeClr val="lt1"/>
                </a:solidFill>
              </a:rPr>
              <a:t>By</a:t>
            </a:r>
            <a:br>
              <a:rPr lang="en-GB" sz="1400" b="1" dirty="0">
                <a:solidFill>
                  <a:schemeClr val="lt1"/>
                </a:solidFill>
              </a:rPr>
            </a:br>
            <a:r>
              <a:rPr lang="en-GB" sz="1400" b="1" dirty="0">
                <a:solidFill>
                  <a:schemeClr val="lt1"/>
                </a:solidFill>
              </a:rPr>
              <a:t>Ashutosh Mishra</a:t>
            </a:r>
            <a:br>
              <a:rPr lang="en-GB" sz="1400" b="1" dirty="0">
                <a:solidFill>
                  <a:schemeClr val="lt1"/>
                </a:solidFill>
              </a:rPr>
            </a:br>
            <a:r>
              <a:rPr lang="en-GB" sz="1400" b="1" dirty="0">
                <a:solidFill>
                  <a:schemeClr val="lt1"/>
                </a:solidFill>
              </a:rPr>
              <a:t>Atharv </a:t>
            </a:r>
            <a:r>
              <a:rPr lang="en-GB" sz="1400" b="1" dirty="0" err="1">
                <a:solidFill>
                  <a:schemeClr val="lt1"/>
                </a:solidFill>
              </a:rPr>
              <a:t>ghadge</a:t>
            </a:r>
            <a:br>
              <a:rPr lang="en-GB" sz="1400" b="1" dirty="0">
                <a:solidFill>
                  <a:schemeClr val="lt1"/>
                </a:solidFill>
              </a:rPr>
            </a:br>
            <a:r>
              <a:rPr lang="en-GB" sz="1400" b="1" dirty="0">
                <a:solidFill>
                  <a:schemeClr val="lt1"/>
                </a:solidFill>
              </a:rPr>
              <a:t>Piyush </a:t>
            </a:r>
            <a:r>
              <a:rPr lang="en-GB" sz="1400" b="1" dirty="0" err="1">
                <a:solidFill>
                  <a:schemeClr val="lt1"/>
                </a:solidFill>
              </a:rPr>
              <a:t>owalekar</a:t>
            </a:r>
            <a:br>
              <a:rPr lang="en-GB" sz="1400" b="1" dirty="0">
                <a:solidFill>
                  <a:schemeClr val="lt1"/>
                </a:solidFill>
              </a:rPr>
            </a:br>
            <a:r>
              <a:rPr lang="en-GB" sz="1400" b="1" dirty="0" err="1">
                <a:solidFill>
                  <a:schemeClr val="lt1"/>
                </a:solidFill>
              </a:rPr>
              <a:t>parth</a:t>
            </a:r>
            <a:r>
              <a:rPr lang="en-GB" sz="1400" b="1" dirty="0">
                <a:solidFill>
                  <a:schemeClr val="lt1"/>
                </a:solidFill>
              </a:rPr>
              <a:t> </a:t>
            </a:r>
            <a:r>
              <a:rPr lang="en-GB" sz="1400" b="1" dirty="0" err="1">
                <a:solidFill>
                  <a:schemeClr val="lt1"/>
                </a:solidFill>
              </a:rPr>
              <a:t>pathari</a:t>
            </a:r>
            <a:endParaRPr lang="en-GB" sz="1400"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F10191C-C954-7FFA-1239-1C0C98A35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9BFE7864-0F34-9B34-EE77-0AA84D2137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>
                <a:solidFill>
                  <a:srgbClr val="A81B50"/>
                </a:solidFill>
              </a:rPr>
              <a:t>Title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B509820F-A500-1461-9D54-AE588837CE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r>
              <a:rPr lang="en-IN" sz="2400" b="1" dirty="0"/>
              <a:t>Project Title: Smart Traffic Signal Timing System</a:t>
            </a:r>
          </a:p>
          <a:p>
            <a:pPr marL="114300" lvl="0" indent="0">
              <a:buNone/>
            </a:pPr>
            <a:r>
              <a:rPr lang="en-IN" sz="2400" b="1" dirty="0"/>
              <a:t>Subject: Data Structures &amp; Algorithms (C++)</a:t>
            </a:r>
          </a:p>
          <a:p>
            <a:pPr marL="114300" lvl="0" indent="0">
              <a:buNone/>
            </a:pPr>
            <a:r>
              <a:rPr lang="en-IN" sz="2400" b="1" dirty="0"/>
              <a:t>Team member names</a:t>
            </a:r>
          </a:p>
          <a:p>
            <a:pPr marL="114300" lvl="0" indent="0">
              <a:buNone/>
            </a:pPr>
            <a:r>
              <a:rPr lang="en-IN" sz="2400" b="1" dirty="0"/>
              <a:t>Roll numbers</a:t>
            </a:r>
          </a:p>
          <a:p>
            <a:pPr marL="114300" lvl="0" indent="0">
              <a:buNone/>
            </a:pPr>
            <a:r>
              <a:rPr lang="en-IN" sz="2400" b="1" dirty="0"/>
              <a:t>Date &amp; Institution name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0F5CF86A-D5FF-B639-1439-21E13308B6B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AE113F-70D7-B0DD-2FCC-D4953FFC4E1D}"/>
              </a:ext>
            </a:extLst>
          </p:cNvPr>
          <p:cNvCxnSpPr>
            <a:cxnSpLocks/>
          </p:cNvCxnSpPr>
          <p:nvPr/>
        </p:nvCxnSpPr>
        <p:spPr>
          <a:xfrm>
            <a:off x="311700" y="1017725"/>
            <a:ext cx="852059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53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DB11A3E9-01C1-B2B8-8CF6-94AFE1212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0;p14">
            <a:extLst>
              <a:ext uri="{FF2B5EF4-FFF2-40B4-BE49-F238E27FC236}">
                <a16:creationId xmlns:a16="http://schemas.microsoft.com/office/drawing/2014/main" id="{12956889-F1FB-95CF-F739-E7C467A86C1B}"/>
              </a:ext>
            </a:extLst>
          </p:cNvPr>
          <p:cNvSpPr txBox="1">
            <a:spLocks/>
          </p:cNvSpPr>
          <p:nvPr/>
        </p:nvSpPr>
        <p:spPr>
          <a:xfrm>
            <a:off x="311699" y="5406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A81B50"/>
                </a:solidFill>
              </a:rPr>
              <a:t>Problem Statement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A80F4E45-DACF-D806-4507-C07A5FD773D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125BBA5-0EEA-A056-B57F-917BE278282E}"/>
              </a:ext>
            </a:extLst>
          </p:cNvPr>
          <p:cNvCxnSpPr>
            <a:cxnSpLocks/>
          </p:cNvCxnSpPr>
          <p:nvPr/>
        </p:nvCxnSpPr>
        <p:spPr>
          <a:xfrm>
            <a:off x="311700" y="1017725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0D15CC-C54E-B6A9-7CBC-081B67334AE1}"/>
              </a:ext>
            </a:extLst>
          </p:cNvPr>
          <p:cNvCxnSpPr>
            <a:cxnSpLocks/>
          </p:cNvCxnSpPr>
          <p:nvPr/>
        </p:nvCxnSpPr>
        <p:spPr>
          <a:xfrm>
            <a:off x="4775200" y="1019450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1;p14">
            <a:extLst>
              <a:ext uri="{FF2B5EF4-FFF2-40B4-BE49-F238E27FC236}">
                <a16:creationId xmlns:a16="http://schemas.microsoft.com/office/drawing/2014/main" id="{D22A5C01-4F34-5D62-B2CA-BA0CC235000E}"/>
              </a:ext>
            </a:extLst>
          </p:cNvPr>
          <p:cNvSpPr txBox="1">
            <a:spLocks/>
          </p:cNvSpPr>
          <p:nvPr/>
        </p:nvSpPr>
        <p:spPr>
          <a:xfrm>
            <a:off x="158384" y="1034924"/>
            <a:ext cx="441361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Real world problem — traffic congestion at intersections</a:t>
            </a:r>
          </a:p>
          <a:p>
            <a:r>
              <a:rPr lang="en-IN" dirty="0"/>
              <a:t>Poor signal timing = increased waiting time</a:t>
            </a:r>
          </a:p>
          <a:p>
            <a:r>
              <a:rPr lang="en-IN" dirty="0"/>
              <a:t>Manual timing is inefficient and static</a:t>
            </a:r>
          </a:p>
          <a:p>
            <a:r>
              <a:rPr lang="en-IN" dirty="0"/>
              <a:t>Need for an algorithmic, data-driven solution</a:t>
            </a:r>
          </a:p>
          <a:p>
            <a:r>
              <a:rPr lang="en-IN" dirty="0"/>
              <a:t>One line objective: Minimize average waiting time</a:t>
            </a:r>
          </a:p>
          <a:p>
            <a:endParaRPr lang="en-IN" sz="1600" dirty="0"/>
          </a:p>
          <a:p>
            <a:endParaRPr lang="en-IN" dirty="0"/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7CF46173-DED2-F855-80A3-F2DCA1FD6179}"/>
              </a:ext>
            </a:extLst>
          </p:cNvPr>
          <p:cNvSpPr txBox="1">
            <a:spLocks/>
          </p:cNvSpPr>
          <p:nvPr/>
        </p:nvSpPr>
        <p:spPr>
          <a:xfrm>
            <a:off x="4790833" y="5424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A81B50"/>
                </a:solidFill>
              </a:rPr>
              <a:t>Objectives</a:t>
            </a:r>
          </a:p>
        </p:txBody>
      </p:sp>
      <p:sp>
        <p:nvSpPr>
          <p:cNvPr id="12" name="Google Shape;61;p14">
            <a:extLst>
              <a:ext uri="{FF2B5EF4-FFF2-40B4-BE49-F238E27FC236}">
                <a16:creationId xmlns:a16="http://schemas.microsoft.com/office/drawing/2014/main" id="{3A3622AF-58F3-0197-04EF-69ECAEA31C8E}"/>
              </a:ext>
            </a:extLst>
          </p:cNvPr>
          <p:cNvSpPr txBox="1">
            <a:spLocks/>
          </p:cNvSpPr>
          <p:nvPr/>
        </p:nvSpPr>
        <p:spPr>
          <a:xfrm>
            <a:off x="4699122" y="1074162"/>
            <a:ext cx="441361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Find optimal green signal duration</a:t>
            </a:r>
          </a:p>
          <a:p>
            <a:r>
              <a:rPr lang="en-IN" dirty="0"/>
              <a:t>Minimize average vehicle waiting time</a:t>
            </a:r>
          </a:p>
          <a:p>
            <a:r>
              <a:rPr lang="en-IN" dirty="0"/>
              <a:t>Simulate real traffic flow using DSA</a:t>
            </a:r>
          </a:p>
          <a:p>
            <a:r>
              <a:rPr lang="en-IN" dirty="0"/>
              <a:t>Demonstrate Binary Search on answer space</a:t>
            </a:r>
          </a:p>
          <a:p>
            <a:r>
              <a:rPr lang="en-IN" dirty="0"/>
              <a:t>Build modular, contributor-friendly code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BC5003A-3347-AF51-7C50-10EFBA50E060}"/>
              </a:ext>
            </a:extLst>
          </p:cNvPr>
          <p:cNvCxnSpPr>
            <a:stCxn id="9" idx="2"/>
          </p:cNvCxnSpPr>
          <p:nvPr/>
        </p:nvCxnSpPr>
        <p:spPr>
          <a:xfrm>
            <a:off x="4571999" y="1113399"/>
            <a:ext cx="0" cy="317724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786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4941D72-5AE9-1C23-590D-DA1983AF4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785044EE-209C-819C-D3CB-13DF5ECAA3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b="1" dirty="0">
                <a:solidFill>
                  <a:srgbClr val="A81B50"/>
                </a:solidFill>
              </a:rPr>
              <a:t> DSA Concepts Used</a:t>
            </a: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1FC3D319-E9F8-9CBC-B696-8D4C39B18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r>
              <a:rPr lang="en-IN" sz="1400" b="1" dirty="0"/>
              <a:t>Table or visual showing:</a:t>
            </a:r>
          </a:p>
          <a:p>
            <a:pPr marL="114300" lvl="0" indent="0">
              <a:buNone/>
            </a:pPr>
            <a:r>
              <a:rPr lang="en-IN" sz="1400" dirty="0"/>
              <a:t>   → Vector (Dynamic Array)</a:t>
            </a:r>
          </a:p>
          <a:p>
            <a:pPr marL="114300" lvl="0" indent="0">
              <a:buNone/>
            </a:pPr>
            <a:r>
              <a:rPr lang="en-IN" sz="1400" dirty="0"/>
              <a:t>   → Struct (User-defined DS)</a:t>
            </a:r>
          </a:p>
          <a:p>
            <a:pPr marL="114300" lvl="0" indent="0">
              <a:buNone/>
            </a:pPr>
            <a:r>
              <a:rPr lang="en-IN" sz="1400" dirty="0"/>
              <a:t>   → Queue (Conceptual FIFO)</a:t>
            </a:r>
          </a:p>
          <a:p>
            <a:pPr marL="114300" lvl="0" indent="0">
              <a:buNone/>
            </a:pPr>
            <a:r>
              <a:rPr lang="en-IN" sz="1400" dirty="0"/>
              <a:t>   → Binary Search</a:t>
            </a:r>
          </a:p>
          <a:p>
            <a:pPr marL="114300" lvl="0" indent="0">
              <a:buNone/>
            </a:pPr>
            <a:r>
              <a:rPr lang="en-IN" sz="1400" dirty="0"/>
              <a:t>   → Linear Simulation</a:t>
            </a:r>
          </a:p>
          <a:p>
            <a:pPr marL="114300" lvl="0" indent="0">
              <a:buNone/>
            </a:pPr>
            <a:r>
              <a:rPr lang="en-IN" sz="1400" dirty="0"/>
              <a:t>   → Greedy Technique</a:t>
            </a:r>
          </a:p>
          <a:p>
            <a:pPr marL="114300" lvl="0" indent="0">
              <a:buNone/>
            </a:pPr>
            <a:r>
              <a:rPr lang="en-IN" sz="1400" dirty="0"/>
              <a:t>   → Optimization (Search on Answer)</a:t>
            </a:r>
          </a:p>
          <a:p>
            <a:pPr marL="114300" lvl="0" indent="0">
              <a:buNone/>
            </a:pPr>
            <a:r>
              <a:rPr lang="en-IN" sz="1400" dirty="0"/>
              <a:t>   → Pass by Reference</a:t>
            </a: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400" dirty="0"/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FF40A586-2B16-BFA2-9CB9-EE578628CD6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AEB621-3475-6DDA-5294-1010DF75FEA0}"/>
              </a:ext>
            </a:extLst>
          </p:cNvPr>
          <p:cNvCxnSpPr>
            <a:cxnSpLocks/>
          </p:cNvCxnSpPr>
          <p:nvPr/>
        </p:nvCxnSpPr>
        <p:spPr>
          <a:xfrm>
            <a:off x="311700" y="1017725"/>
            <a:ext cx="852059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1784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2774521B-EA0C-2B80-EADA-6C76DD40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0;p14">
            <a:extLst>
              <a:ext uri="{FF2B5EF4-FFF2-40B4-BE49-F238E27FC236}">
                <a16:creationId xmlns:a16="http://schemas.microsoft.com/office/drawing/2014/main" id="{997C9F7D-76F5-6A26-21DA-2A594787322B}"/>
              </a:ext>
            </a:extLst>
          </p:cNvPr>
          <p:cNvSpPr txBox="1">
            <a:spLocks/>
          </p:cNvSpPr>
          <p:nvPr/>
        </p:nvSpPr>
        <p:spPr>
          <a:xfrm>
            <a:off x="311699" y="540699"/>
            <a:ext cx="388192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A81B50"/>
                </a:solidFill>
              </a:rPr>
              <a:t>System Architecture</a:t>
            </a: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CC6015D8-CBE6-077D-28C7-EC25843C07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CDE7B7-7838-E137-904B-300110F9216D}"/>
              </a:ext>
            </a:extLst>
          </p:cNvPr>
          <p:cNvCxnSpPr>
            <a:cxnSpLocks/>
          </p:cNvCxnSpPr>
          <p:nvPr/>
        </p:nvCxnSpPr>
        <p:spPr>
          <a:xfrm>
            <a:off x="311700" y="1017725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EF6CDED-3C7C-177A-A770-51913764D0FA}"/>
              </a:ext>
            </a:extLst>
          </p:cNvPr>
          <p:cNvCxnSpPr>
            <a:cxnSpLocks/>
          </p:cNvCxnSpPr>
          <p:nvPr/>
        </p:nvCxnSpPr>
        <p:spPr>
          <a:xfrm>
            <a:off x="4775200" y="1019450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1;p14">
            <a:extLst>
              <a:ext uri="{FF2B5EF4-FFF2-40B4-BE49-F238E27FC236}">
                <a16:creationId xmlns:a16="http://schemas.microsoft.com/office/drawing/2014/main" id="{90962A77-5CAB-A33F-E3E8-CE745DF97BC9}"/>
              </a:ext>
            </a:extLst>
          </p:cNvPr>
          <p:cNvSpPr txBox="1">
            <a:spLocks/>
          </p:cNvSpPr>
          <p:nvPr/>
        </p:nvSpPr>
        <p:spPr>
          <a:xfrm>
            <a:off x="158384" y="1034924"/>
            <a:ext cx="435200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Flowchart showing:</a:t>
            </a:r>
            <a:br>
              <a:rPr lang="en-IN" dirty="0"/>
            </a:br>
            <a:r>
              <a:rPr lang="en-IN" dirty="0"/>
              <a:t>Input → Simulate → Binary Search → Output</a:t>
            </a:r>
          </a:p>
          <a:p>
            <a:r>
              <a:rPr lang="en-IN" dirty="0"/>
              <a:t>4-part code division diagram</a:t>
            </a:r>
          </a:p>
          <a:p>
            <a:r>
              <a:rPr lang="en-IN" dirty="0"/>
              <a:t>Function call hierarchy:</a:t>
            </a:r>
            <a:br>
              <a:rPr lang="en-IN" dirty="0"/>
            </a:br>
            <a:r>
              <a:rPr lang="en-IN" dirty="0"/>
              <a:t>main() → takeInput() → binarySearchOptimal()       → simulate() → displayResults()</a:t>
            </a:r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9E2F0934-0080-2250-AE80-C71370D46361}"/>
              </a:ext>
            </a:extLst>
          </p:cNvPr>
          <p:cNvSpPr txBox="1">
            <a:spLocks/>
          </p:cNvSpPr>
          <p:nvPr/>
        </p:nvSpPr>
        <p:spPr>
          <a:xfrm>
            <a:off x="4663704" y="5406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A81B50"/>
                </a:solidFill>
              </a:rPr>
              <a:t>Data Structures Explained</a:t>
            </a:r>
          </a:p>
          <a:p>
            <a:endParaRPr lang="en-IN" b="1" dirty="0">
              <a:solidFill>
                <a:srgbClr val="A81B50"/>
              </a:solidFill>
            </a:endParaRPr>
          </a:p>
        </p:txBody>
      </p:sp>
      <p:sp>
        <p:nvSpPr>
          <p:cNvPr id="12" name="Google Shape;61;p14">
            <a:extLst>
              <a:ext uri="{FF2B5EF4-FFF2-40B4-BE49-F238E27FC236}">
                <a16:creationId xmlns:a16="http://schemas.microsoft.com/office/drawing/2014/main" id="{83329AB2-267F-EA6B-1735-9AFAB498848B}"/>
              </a:ext>
            </a:extLst>
          </p:cNvPr>
          <p:cNvSpPr txBox="1">
            <a:spLocks/>
          </p:cNvSpPr>
          <p:nvPr/>
        </p:nvSpPr>
        <p:spPr>
          <a:xfrm>
            <a:off x="4699122" y="1074162"/>
            <a:ext cx="441361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Find optimal green signal duration</a:t>
            </a:r>
          </a:p>
          <a:p>
            <a:r>
              <a:rPr lang="en-IN" dirty="0"/>
              <a:t>Minimize average vehicle waiting time</a:t>
            </a:r>
          </a:p>
          <a:p>
            <a:r>
              <a:rPr lang="en-IN" dirty="0"/>
              <a:t>Simulate real traffic flow using DSA</a:t>
            </a:r>
          </a:p>
          <a:p>
            <a:r>
              <a:rPr lang="en-IN" dirty="0"/>
              <a:t>Demonstrate Binary Search on answer space</a:t>
            </a:r>
          </a:p>
          <a:p>
            <a:r>
              <a:rPr lang="en-IN" dirty="0"/>
              <a:t>Build modular, contributor-friendly code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A5CC9B-DC07-D568-55B5-4A86368753C4}"/>
              </a:ext>
            </a:extLst>
          </p:cNvPr>
          <p:cNvCxnSpPr>
            <a:cxnSpLocks/>
          </p:cNvCxnSpPr>
          <p:nvPr/>
        </p:nvCxnSpPr>
        <p:spPr>
          <a:xfrm>
            <a:off x="4571999" y="1193738"/>
            <a:ext cx="0" cy="317724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A5EEAE-55F6-ABA1-E40F-A6907E6A6758}"/>
              </a:ext>
            </a:extLst>
          </p:cNvPr>
          <p:cNvCxnSpPr>
            <a:cxnSpLocks/>
          </p:cNvCxnSpPr>
          <p:nvPr/>
        </p:nvCxnSpPr>
        <p:spPr>
          <a:xfrm>
            <a:off x="5004478" y="1017725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6896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57E11D27-C056-610F-A693-CF2B4E856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0;p14">
            <a:extLst>
              <a:ext uri="{FF2B5EF4-FFF2-40B4-BE49-F238E27FC236}">
                <a16:creationId xmlns:a16="http://schemas.microsoft.com/office/drawing/2014/main" id="{06A5143B-1115-AD65-2607-CF23183A6BF8}"/>
              </a:ext>
            </a:extLst>
          </p:cNvPr>
          <p:cNvSpPr txBox="1">
            <a:spLocks/>
          </p:cNvSpPr>
          <p:nvPr/>
        </p:nvSpPr>
        <p:spPr>
          <a:xfrm>
            <a:off x="311699" y="540699"/>
            <a:ext cx="388192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IN"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CE0B9AD3-499F-5228-2710-F1D7F2C1AAF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B45D5A-AC45-E1BB-E1D3-F6A90196BCD9}"/>
              </a:ext>
            </a:extLst>
          </p:cNvPr>
          <p:cNvCxnSpPr>
            <a:cxnSpLocks/>
          </p:cNvCxnSpPr>
          <p:nvPr/>
        </p:nvCxnSpPr>
        <p:spPr>
          <a:xfrm>
            <a:off x="311700" y="1017725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61C8AA-F067-6B35-505F-2485F626F6D4}"/>
              </a:ext>
            </a:extLst>
          </p:cNvPr>
          <p:cNvCxnSpPr>
            <a:cxnSpLocks/>
          </p:cNvCxnSpPr>
          <p:nvPr/>
        </p:nvCxnSpPr>
        <p:spPr>
          <a:xfrm>
            <a:off x="4775200" y="1019450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oogle Shape;61;p14">
            <a:extLst>
              <a:ext uri="{FF2B5EF4-FFF2-40B4-BE49-F238E27FC236}">
                <a16:creationId xmlns:a16="http://schemas.microsoft.com/office/drawing/2014/main" id="{EC762C9D-D38B-4768-5C9C-3000F64E17CA}"/>
              </a:ext>
            </a:extLst>
          </p:cNvPr>
          <p:cNvSpPr txBox="1">
            <a:spLocks/>
          </p:cNvSpPr>
          <p:nvPr/>
        </p:nvSpPr>
        <p:spPr>
          <a:xfrm>
            <a:off x="158384" y="1034924"/>
            <a:ext cx="435200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Smart city traffic management</a:t>
            </a:r>
          </a:p>
          <a:p>
            <a:r>
              <a:rPr lang="en-IN" dirty="0"/>
              <a:t>Emergency vehicle signal priority</a:t>
            </a:r>
          </a:p>
          <a:p>
            <a:r>
              <a:rPr lang="en-IN" dirty="0"/>
              <a:t>Highway toll booth optimization</a:t>
            </a:r>
          </a:p>
          <a:p>
            <a:r>
              <a:rPr lang="en-IN" dirty="0"/>
              <a:t>Airport runway scheduling</a:t>
            </a:r>
          </a:p>
          <a:p>
            <a:r>
              <a:rPr lang="en-IN" dirty="0"/>
              <a:t>Any system needing optimal time-slot allocation</a:t>
            </a:r>
          </a:p>
        </p:txBody>
      </p: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CCC41110-71CD-E4F3-8E2B-2DB0BD9D4F3D}"/>
              </a:ext>
            </a:extLst>
          </p:cNvPr>
          <p:cNvSpPr txBox="1">
            <a:spLocks/>
          </p:cNvSpPr>
          <p:nvPr/>
        </p:nvSpPr>
        <p:spPr>
          <a:xfrm>
            <a:off x="4663704" y="5406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A81B50"/>
                </a:solidFill>
              </a:rPr>
              <a:t>Complexity We Achieved</a:t>
            </a:r>
          </a:p>
          <a:p>
            <a:endParaRPr lang="en-IN" b="1" dirty="0">
              <a:solidFill>
                <a:srgbClr val="A81B50"/>
              </a:solidFill>
            </a:endParaRPr>
          </a:p>
        </p:txBody>
      </p:sp>
      <p:sp>
        <p:nvSpPr>
          <p:cNvPr id="12" name="Google Shape;61;p14">
            <a:extLst>
              <a:ext uri="{FF2B5EF4-FFF2-40B4-BE49-F238E27FC236}">
                <a16:creationId xmlns:a16="http://schemas.microsoft.com/office/drawing/2014/main" id="{85787A99-EEC3-ADAE-4BF8-B8B6E9B3E3D2}"/>
              </a:ext>
            </a:extLst>
          </p:cNvPr>
          <p:cNvSpPr txBox="1">
            <a:spLocks/>
          </p:cNvSpPr>
          <p:nvPr/>
        </p:nvSpPr>
        <p:spPr>
          <a:xfrm>
            <a:off x="4699122" y="1074162"/>
            <a:ext cx="441361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Part-wise complexity table</a:t>
            </a:r>
          </a:p>
          <a:p>
            <a:r>
              <a:rPr lang="en-IN" dirty="0"/>
              <a:t>Overall: O(n log m) — with explanation</a:t>
            </a:r>
          </a:p>
          <a:p>
            <a:r>
              <a:rPr lang="en-IN" dirty="0"/>
              <a:t>Space: O(n) — with explanation</a:t>
            </a:r>
          </a:p>
          <a:p>
            <a:r>
              <a:rPr lang="en-IN" dirty="0"/>
              <a:t>Comparison: Linear O(</a:t>
            </a:r>
            <a:r>
              <a:rPr lang="en-IN" dirty="0" err="1"/>
              <a:t>n×m</a:t>
            </a:r>
            <a:r>
              <a:rPr lang="en-IN" dirty="0"/>
              <a:t>) vs Binary O(n log m)</a:t>
            </a:r>
          </a:p>
          <a:p>
            <a:r>
              <a:rPr lang="en-IN" dirty="0"/>
              <a:t>Graph or number showing efficiency gain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58771B-629B-DDFD-9FDA-CFFB9236F021}"/>
              </a:ext>
            </a:extLst>
          </p:cNvPr>
          <p:cNvCxnSpPr>
            <a:cxnSpLocks/>
          </p:cNvCxnSpPr>
          <p:nvPr/>
        </p:nvCxnSpPr>
        <p:spPr>
          <a:xfrm>
            <a:off x="4571999" y="1193738"/>
            <a:ext cx="0" cy="3177247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2BAB19B-BD7C-06CA-55F3-6A038281B302}"/>
              </a:ext>
            </a:extLst>
          </p:cNvPr>
          <p:cNvCxnSpPr>
            <a:cxnSpLocks/>
          </p:cNvCxnSpPr>
          <p:nvPr/>
        </p:nvCxnSpPr>
        <p:spPr>
          <a:xfrm>
            <a:off x="5004478" y="1017725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5315EF8D-A17A-F04E-2FF1-311EA59E6180}"/>
              </a:ext>
            </a:extLst>
          </p:cNvPr>
          <p:cNvSpPr txBox="1">
            <a:spLocks/>
          </p:cNvSpPr>
          <p:nvPr/>
        </p:nvSpPr>
        <p:spPr>
          <a:xfrm>
            <a:off x="311699" y="540699"/>
            <a:ext cx="388192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A81B50"/>
                </a:solidFill>
              </a:rPr>
              <a:t>Real World Applications</a:t>
            </a:r>
          </a:p>
        </p:txBody>
      </p:sp>
    </p:spTree>
    <p:extLst>
      <p:ext uri="{BB962C8B-B14F-4D97-AF65-F5344CB8AC3E}">
        <p14:creationId xmlns:p14="http://schemas.microsoft.com/office/powerpoint/2010/main" val="12836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ACCE6C7-B9E9-F2E5-FF35-E04ECF923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CA062714-8FDD-A4C0-F746-57E72E1B701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E90DFE-E4A7-7B10-3415-F5F220505C4B}"/>
              </a:ext>
            </a:extLst>
          </p:cNvPr>
          <p:cNvCxnSpPr>
            <a:cxnSpLocks/>
          </p:cNvCxnSpPr>
          <p:nvPr/>
        </p:nvCxnSpPr>
        <p:spPr>
          <a:xfrm>
            <a:off x="311700" y="1017725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2DC644-A2B1-D4A0-1472-F083A66F14C5}"/>
              </a:ext>
            </a:extLst>
          </p:cNvPr>
          <p:cNvCxnSpPr>
            <a:cxnSpLocks/>
          </p:cNvCxnSpPr>
          <p:nvPr/>
        </p:nvCxnSpPr>
        <p:spPr>
          <a:xfrm>
            <a:off x="4775200" y="1019450"/>
            <a:ext cx="4041469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oogle Shape;60;p14">
            <a:extLst>
              <a:ext uri="{FF2B5EF4-FFF2-40B4-BE49-F238E27FC236}">
                <a16:creationId xmlns:a16="http://schemas.microsoft.com/office/drawing/2014/main" id="{5BA6DE50-2207-20CE-0257-F77DFF87362E}"/>
              </a:ext>
            </a:extLst>
          </p:cNvPr>
          <p:cNvSpPr txBox="1">
            <a:spLocks/>
          </p:cNvSpPr>
          <p:nvPr/>
        </p:nvSpPr>
        <p:spPr>
          <a:xfrm>
            <a:off x="3465523" y="3115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1" dirty="0">
                <a:solidFill>
                  <a:srgbClr val="A81B50"/>
                </a:solidFill>
              </a:rPr>
              <a:t>Conclusion</a:t>
            </a:r>
          </a:p>
        </p:txBody>
      </p:sp>
      <p:sp>
        <p:nvSpPr>
          <p:cNvPr id="12" name="Google Shape;61;p14">
            <a:extLst>
              <a:ext uri="{FF2B5EF4-FFF2-40B4-BE49-F238E27FC236}">
                <a16:creationId xmlns:a16="http://schemas.microsoft.com/office/drawing/2014/main" id="{4699D161-DCF0-617E-12CD-D5E3600BF961}"/>
              </a:ext>
            </a:extLst>
          </p:cNvPr>
          <p:cNvSpPr txBox="1">
            <a:spLocks/>
          </p:cNvSpPr>
          <p:nvPr/>
        </p:nvSpPr>
        <p:spPr>
          <a:xfrm>
            <a:off x="475261" y="1266802"/>
            <a:ext cx="775581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 algn="ctr">
              <a:buNone/>
            </a:pPr>
            <a:r>
              <a:rPr lang="en-IN" sz="2400" b="1" dirty="0"/>
              <a:t>Problem → Solution summary in 3 lines</a:t>
            </a:r>
          </a:p>
          <a:p>
            <a:pPr marL="114300" indent="0" algn="ctr">
              <a:buNone/>
            </a:pPr>
            <a:r>
              <a:rPr lang="en-IN" sz="2400" b="1" dirty="0"/>
              <a:t>DSA concepts recap (one-liner each)</a:t>
            </a:r>
          </a:p>
          <a:p>
            <a:pPr marL="114300" indent="0" algn="ctr">
              <a:buNone/>
            </a:pPr>
            <a:r>
              <a:rPr lang="en-IN" sz="2400" b="1" dirty="0"/>
              <a:t>Complexity achieved</a:t>
            </a:r>
          </a:p>
          <a:p>
            <a:pPr marL="114300" indent="0" algn="ctr">
              <a:buNone/>
            </a:pPr>
            <a:r>
              <a:rPr lang="en-IN" sz="2400" b="1" dirty="0"/>
              <a:t>What the team learned</a:t>
            </a:r>
          </a:p>
          <a:p>
            <a:pPr marL="114300" indent="0" algn="ctr">
              <a:buNone/>
            </a:pPr>
            <a:r>
              <a:rPr lang="en-IN" sz="2400" b="1" dirty="0"/>
              <a:t>Thank you + Q&amp;A invite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2FD999E-0580-46BC-F33C-A58558DE2D04}"/>
              </a:ext>
            </a:extLst>
          </p:cNvPr>
          <p:cNvCxnSpPr>
            <a:cxnSpLocks/>
          </p:cNvCxnSpPr>
          <p:nvPr/>
        </p:nvCxnSpPr>
        <p:spPr>
          <a:xfrm>
            <a:off x="4183117" y="1017725"/>
            <a:ext cx="4862830" cy="0"/>
          </a:xfrm>
          <a:prstGeom prst="line">
            <a:avLst/>
          </a:prstGeom>
          <a:ln w="28575">
            <a:solidFill>
              <a:srgbClr val="A81C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447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336</Words>
  <Application>Microsoft Macintosh PowerPoint</Application>
  <PresentationFormat>On-screen Show (16:9)</PresentationFormat>
  <Paragraphs>59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PowerPoint Presentation</vt:lpstr>
      <vt:lpstr>Title</vt:lpstr>
      <vt:lpstr>PowerPoint Presentation</vt:lpstr>
      <vt:lpstr> DSA Concepts Used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tambade</cp:lastModifiedBy>
  <cp:revision>2</cp:revision>
  <dcterms:modified xsi:type="dcterms:W3CDTF">2026-05-08T07:38:41Z</dcterms:modified>
</cp:coreProperties>
</file>